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72" r:id="rId21"/>
    <p:sldId id="273" r:id="rId22"/>
    <p:sldId id="274" r:id="rId23"/>
    <p:sldId id="275" r:id="rId24"/>
    <p:sldId id="277" r:id="rId26"/>
    <p:sldId id="276" r:id="rId25"/>
    <p:sldId id="263" r:id="rId9"/>
    <p:sldId id="264" r:id="rId10"/>
    <p:sldId id="265" r:id="rId11"/>
    <p:sldId id="266" r:id="rId12"/>
    <p:sldId id="269" r:id="rId13"/>
    <p:sldId id="270" r:id="rId19"/>
    <p:sldId id="271" r:id="rId20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logo_lockup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cert_veer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cert_veer_2.png"/><Relationship Id="rId1" Type="http://schemas.openxmlformats.org/officeDocument/2006/relationships/slideLayout" Target="../slideLayouts/slideLayout6.xml"/></Relationships>
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cert_veer_3.png"/><Relationship Id="rId1" Type="http://schemas.openxmlformats.org/officeDocument/2006/relationships/slideLayout" Target="../slideLayouts/slideLayout6.xml"/></Relationships>
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shot_desk.png"/><Relationship Id="rId1" Type="http://schemas.openxmlformats.org/officeDocument/2006/relationships/slideLayout" Target="../slideLayouts/slideLayout6.xml"/></Relationships>
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image" Target="../media/shot_diagnosis.png"/><Relationship Id="rId1" Type="http://schemas.openxmlformats.org/officeDocument/2006/relationships/slideLayout" Target="../slideLayouts/slideLayout6.xml"/></Relationships>
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image" Target="../media/shot_review.png"/><Relationship Id="rId1" Type="http://schemas.openxmlformats.org/officeDocument/2006/relationships/slideLayout" Target="../slideLayouts/slideLayout6.xml"/></Relationships>
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image" Target="../media/shot_charts.png"/><Relationship Id="rId1" Type="http://schemas.openxmlformats.org/officeDocument/2006/relationships/slideLayout" Target="../slideLayouts/slideLayout6.xml"/></Relationships>
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image" Target="../media/shot_corrections.png"/><Relationship Id="rId1" Type="http://schemas.openxmlformats.org/officeDocument/2006/relationships/slideLayout" Target="../slideLayouts/slideLayout6.xml"/></Relationships>
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image" Target="../media/shot_breakdown.png"/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ight Panel"/>
          <p:cNvSpPr/>
          <p:nvPr/>
        </p:nvSpPr>
        <p:spPr>
          <a:xfrm>
            <a:off x="6500000" y="0"/>
            <a:ext cx="5692000" cy="6858000"/>
          </a:xfrm>
          <a:prstGeom prst="rect">
            <a:avLst/>
          </a:prstGeom>
          <a:solidFill>
            <a:srgbClr val="162345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IIL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0050"/>
            <a:ext cx="3810000" cy="1116035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571500" y="1828800"/>
            <a:ext cx="5600700" cy="260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Pct val="100000"/>
            </a:pPr>
            <a:r>
              <a:rPr sz="1200" b="1" i="0" u="none" spc="150">
                <a:solidFill>
                  <a:srgbClr val="2563EB"/>
                </a:solidFill>
                <a:latin typeface="Poppins"/>
              </a:rPr>
              <a:t>CISCO NETWORKING ACADEMY – VIRTUAL INTERNSHIP PROGRAM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71500" y="2181225"/>
            <a:ext cx="5600700" cy="1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 u="none">
                <a:solidFill>
                  <a:srgbClr val="0F172A"/>
                </a:solidFill>
                <a:latin typeface="Poppins"/>
              </a:rPr>
              <a:t>NetSage AI: Network Troubleshooting &amp; Diagnostics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71500" y="3681225"/>
            <a:ext cx="5600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2563EB"/>
                </a:solidFill>
                <a:latin typeface="Poppins"/>
              </a:rPr>
              <a:t>A 9-Week AI-Assisted Networking Internship Report</a:t>
            </a:r>
          </a:p>
        </p:txBody>
      </p:sp>
      <p:sp>
        <p:nvSpPr>
          <p:cNvPr id="6" name="DurationLabel"/>
          <p:cNvSpPr txBox="1"/>
          <p:nvPr/>
        </p:nvSpPr>
        <p:spPr>
          <a:xfrm>
            <a:off x="571500" y="5629275"/>
            <a:ext cx="3000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Pct val="100000"/>
            </a:pPr>
            <a:r>
              <a:rPr sz="1100" b="1" i="0" u="none" spc="150">
                <a:solidFill>
                  <a:srgbClr val="2563EB"/>
                </a:solidFill>
                <a:latin typeface="Poppins"/>
              </a:rPr>
              <a:t>INTERNSHIP DURATION</a:t>
            </a:r>
          </a:p>
        </p:txBody>
      </p:sp>
      <p:sp>
        <p:nvSpPr>
          <p:cNvPr id="7" name="DurationValue"/>
          <p:cNvSpPr txBox="1"/>
          <p:nvPr/>
        </p:nvSpPr>
        <p:spPr>
          <a:xfrm>
            <a:off x="571500" y="5905500"/>
            <a:ext cx="4000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Poppins"/>
              </a:rPr>
              <a:t>May 15 – July 15, 2026 (9 Weeks)</a:t>
            </a:r>
          </a:p>
        </p:txBody>
      </p:sp>
      <p:sp>
        <p:nvSpPr>
          <p:cNvPr id="8" name="CredLabel"/>
          <p:cNvSpPr txBox="1"/>
          <p:nvPr/>
        </p:nvSpPr>
        <p:spPr>
          <a:xfrm>
            <a:off x="6850380" y="590550"/>
            <a:ext cx="400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Pct val="100000"/>
            </a:pPr>
            <a:r>
              <a:rPr sz="1100" b="1" i="0" u="none" spc="150">
                <a:solidFill>
                  <a:srgbClr val="7FA8E0"/>
                </a:solidFill>
                <a:latin typeface="Poppins"/>
              </a:rPr>
              <a:t>STUDENT CREDENTIALS</a:t>
            </a:r>
          </a:p>
        </p:txBody>
      </p:sp>
      <p:sp>
        <p:nvSpPr>
          <p:cNvPr id="9" name="CredCard"/>
          <p:cNvSpPr/>
          <p:nvPr/>
        </p:nvSpPr>
        <p:spPr>
          <a:xfrm>
            <a:off x="6850380" y="962025"/>
            <a:ext cx="4552950" cy="1743075"/>
          </a:xfrm>
          <a:prstGeom prst="roundRect">
            <a:avLst>
              <a:gd name="adj" fmla="val 6000"/>
            </a:avLst>
          </a:prstGeom>
          <a:solidFill>
            <a:srgbClr val="222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redName"/>
          <p:cNvSpPr txBox="1"/>
          <p:nvPr/>
        </p:nvSpPr>
        <p:spPr>
          <a:xfrm>
            <a:off x="7159625" y="1181100"/>
            <a:ext cx="400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Veer Gupta</a:t>
            </a:r>
          </a:p>
        </p:txBody>
      </p:sp>
      <p:sp>
        <p:nvSpPr>
          <p:cNvPr id="11" name="RollLabel"/>
          <p:cNvSpPr txBox="1"/>
          <p:nvPr/>
        </p:nvSpPr>
        <p:spPr>
          <a:xfrm>
            <a:off x="7159625" y="17907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ACB2C8"/>
                </a:solidFill>
                <a:latin typeface="Inter"/>
              </a:rPr>
              <a:t>Enrollment / Roll No.</a:t>
            </a:r>
          </a:p>
        </p:txBody>
      </p:sp>
      <p:sp>
        <p:nvSpPr>
          <p:cNvPr id="12" name="RollValue"/>
          <p:cNvSpPr txBox="1"/>
          <p:nvPr/>
        </p:nvSpPr>
        <p:spPr>
          <a:xfrm>
            <a:off x="7159625" y="2038350"/>
            <a:ext cx="2057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E4E5EA"/>
                </a:solidFill>
                <a:latin typeface="Inter"/>
              </a:rPr>
              <a:t>25SCS1003003599</a:t>
            </a:r>
          </a:p>
        </p:txBody>
      </p:sp>
      <p:sp>
        <p:nvSpPr>
          <p:cNvPr id="13" name="ProgLabel"/>
          <p:cNvSpPr txBox="1"/>
          <p:nvPr/>
        </p:nvSpPr>
        <p:spPr>
          <a:xfrm>
            <a:off x="9372600" y="1790700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ACB2C8"/>
                </a:solidFill>
                <a:latin typeface="Inter"/>
              </a:rPr>
              <a:t>Program &amp; Degree</a:t>
            </a:r>
          </a:p>
        </p:txBody>
      </p:sp>
      <p:sp>
        <p:nvSpPr>
          <p:cNvPr id="14" name="ProgValue"/>
          <p:cNvSpPr txBox="1"/>
          <p:nvPr/>
        </p:nvSpPr>
        <p:spPr>
          <a:xfrm>
            <a:off x="9372600" y="2038350"/>
            <a:ext cx="19431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E4E5EA"/>
                </a:solidFill>
                <a:latin typeface="Inter"/>
              </a:rPr>
              <a:t>B.Tech (CSE)</a:t>
            </a:r>
          </a:p>
        </p:txBody>
      </p:sp>
      <p:sp>
        <p:nvSpPr>
          <p:cNvPr id="15" name="HostBox"/>
          <p:cNvSpPr/>
          <p:nvPr/>
        </p:nvSpPr>
        <p:spPr>
          <a:xfrm>
            <a:off x="6850380" y="5695950"/>
            <a:ext cx="4552950" cy="914400"/>
          </a:xfrm>
          <a:prstGeom prst="roundRect">
            <a:avLst>
              <a:gd name="adj" fmla="val 8000"/>
            </a:avLst>
          </a:prstGeom>
          <a:solidFill>
            <a:srgbClr val="3E63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HostLabel"/>
          <p:cNvSpPr txBox="1"/>
          <p:nvPr/>
        </p:nvSpPr>
        <p:spPr>
          <a:xfrm>
            <a:off x="7159625" y="5810250"/>
            <a:ext cx="400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Pct val="100000"/>
            </a:pPr>
            <a:r>
              <a:rPr sz="1000" b="1" i="0" u="none" spc="100">
                <a:solidFill>
                  <a:srgbClr val="DCE8FA"/>
                </a:solidFill>
                <a:latin typeface="Poppins"/>
              </a:rPr>
              <a:t>HOST PROGRAM</a:t>
            </a:r>
          </a:p>
        </p:txBody>
      </p:sp>
      <p:sp>
        <p:nvSpPr>
          <p:cNvPr id="17" name="HostValue1"/>
          <p:cNvSpPr txBox="1"/>
          <p:nvPr/>
        </p:nvSpPr>
        <p:spPr>
          <a:xfrm>
            <a:off x="7159625" y="6048375"/>
            <a:ext cx="4000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FFFFFF"/>
                </a:solidFill>
                <a:latin typeface="Inter"/>
              </a:rPr>
              <a:t>Cisco Networking Academy</a:t>
            </a:r>
          </a:p>
        </p:txBody>
      </p:sp>
      <p:sp>
        <p:nvSpPr>
          <p:cNvPr id="18" name="HostValue2"/>
          <p:cNvSpPr txBox="1"/>
          <p:nvPr/>
        </p:nvSpPr>
        <p:spPr>
          <a:xfrm>
            <a:off x="7159625" y="6305550"/>
            <a:ext cx="4000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E4E5EA"/>
                </a:solidFill>
                <a:latin typeface="Inter"/>
              </a:rPr>
              <a:t>In partnership with IILM University</a:t>
            </a:r>
          </a:p>
        </p:txBody>
      </p:sp>
    </p:spTree>
    <p:extLst>
      <p:ext uri="{BB962C8B-B14F-4D97-AF65-F5344CB8AC3E}">
        <p14:creationId xmlns:p14="http://schemas.microsoft.com/office/powerpoint/2010/main" val="939934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9843"/>
            <a:ext cx="5334000" cy="2633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59843"/>
            <a:ext cx="5334000" cy="2633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64643"/>
            <a:ext cx="4910613" cy="31432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Candidate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Student Name: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VEER GUPTA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Roll Number: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25SCS1003003599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Degree: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B.Tech (Computer Science &amp; Engineering)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Academic Batch: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2025-2029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University: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IILM University, Greater Noida, U.P.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864643"/>
            <a:ext cx="4910613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Internship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Program Name: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Cisco Networking Academy (VIP)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Specialization Domain: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AI Network 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Duration: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9 Weeks (May 15 – July 15,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Certificate ID: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c2681fa6…c9de9 (see Slide 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Instructor: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Swati Vashisht, Cisco Networking Academy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912268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912268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Candidate &amp; Program Overview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66925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Cisco Networking Academy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is a global IT skills program delivered through IILM University, operating under the vision of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"Bridging Classrooms and Careers in Technology"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66925"/>
            <a:ext cx="3819525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1550" y="3080295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Cisco Collaboration: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Delivered through IILM University in partnership with Cisco Networking Academy to empower engineering talent across India.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980408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Industry Alignment: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Partners with Cisco's global academy network to bridge the gap between classroom learning and industry-ready networking and AI skills.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880520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Core Focus Domains: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Networking Fundamentals, Data Analytics, Applied Artificial Intelligence, and Cybersecurity.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94583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94695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94808"/>
            <a:ext cx="2095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Organization Profile: Cisco Networking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1382"/>
            <a:ext cx="5334000" cy="27705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91382"/>
            <a:ext cx="5334000" cy="2770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The Industry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24807"/>
            <a:ext cx="467677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Students and junior network engineers can often run the right networking commands but struggle to connect a symptom to its true underlying cause among many possible faults.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31422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A connectivity issue could stem from a VLAN misconfiguration, gateway mismatch, DHCP failure, routing problem, DNS issue, ACL rule, or NAT misconfiguration.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The Solution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224807"/>
            <a:ext cx="46767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This internship builds NetSage AI, a decision-support system that analyzes troubleshooting evidence and proposes a probable root cause and next diagnostic 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7044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Combining a deterministic Python rule engine with Gemini-powered NLP diagnosis, while always keeping a human reviewer in the loop before any fix is accepted.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84380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843807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Problem Statement &amp; Industry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3878"/>
            <a:ext cx="2583656" cy="2845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3878"/>
            <a:ext cx="2583656" cy="28455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3878"/>
            <a:ext cx="2583656" cy="28455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3878"/>
            <a:ext cx="2583656" cy="2845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Rule-Based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Build a deterministic Python rule engine that detects known network faults such as VLAN, DHCP, and gateway issues from evidence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1406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NLP / AI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06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Use Gemini-powered similarity matching to rank Top-3 candidate diagnoses when no deterministic rule matches the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3187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Hybrid Decision &amp;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187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Combine rule-based and AI outputs into a High-Confidence or Human-Review verdict, with Accept, Edit, or Reject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4968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Responsible AI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4968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Track agreement rate, category/severity breakdowns, and a full AI-vs-human corrections audit log on a Streamlit dashboard.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8203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8203"/>
            <a:ext cx="45720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8203"/>
            <a:ext cx="45720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8203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Core Project Objectives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5068"/>
            <a:ext cx="2583656" cy="2843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5068"/>
            <a:ext cx="2583656" cy="2843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5068"/>
            <a:ext cx="2583656" cy="2843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5068"/>
            <a:ext cx="2583656" cy="2843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Dashboard &amp;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Language: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Python (core application logic)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400550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UI Framework: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Streamlit dashboard and review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06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Diagnosis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1406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AI Engine: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Google Generative AI (Gemini 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1406" y="4400550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Rule Engine: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Deterministic Python rule-based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3187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Data &amp;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3187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Data Handling: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pandas for case datasets &amp;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3187" y="4193381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Configuration: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python-dotenv for environment secrets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4968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Analytics &amp; 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4968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Dashboard: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Responsible AI analytics &amp; agreement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4968" y="4193381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Audit Log: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Review History &amp; Corrections Log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9393"/>
            <a:ext cx="314325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9393"/>
            <a:ext cx="457200" cy="3619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9393"/>
            <a:ext cx="36195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9393"/>
            <a:ext cx="361950" cy="361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Technologies &amp; Tech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690687"/>
            <a:ext cx="54006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System Architecture &amp; Workflow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366962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Evidence Layer: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Symptom, topology, and Cisco show-command output submitted via the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81300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Rule Engine: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Deterministic Python engine matches evidence against known network fault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9563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AI / NLP Engine: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Gemini-powered similarity matching ranks Top-3 candidate diagnoses.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52862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Hybrid Decision: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Combines both engines into a High-Confidence or Human-Review verdict.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51008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Human Review &amp; Logging: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Reviewer accepts, edits, or rejects; every decision is logged for audit.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81250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795587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209925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867150"/>
            <a:ext cx="23812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524375"/>
            <a:ext cx="2381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Networking &amp; AI Foundations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Cisco Networking Academy orientation, OSI model refresher, and Introduction to Modern AI concepts.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Data Analytics Essentials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Data formats, acquisition, statistical analysis, and hands-on labs with Excel, SQL, and Tableau.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Applying AI to Real Data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Apply AI: Analyze Customer Reviews coursework covering NLP and similarity-based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Case Dataset Design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Built the 30-case network troubleshooting dataset with symptom, evidence, and severity fields.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Curriculum Timeline (Weeks 1 to 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Rule-Based Diagnostic Engine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Deterministic Python rules for VLAN, DHCP, gateway, and ACL faults, validated to 100%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NLP / AI Diagnostic Engine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Gemini API integration with similarity-based Top-3 candidate diagnosis ranking.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Hybrid Decision &amp; Review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Combined both engines and built the Accept / Edit / Reject human review panel.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8-9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Dashboard &amp; Capstone Demo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Responsible AI Analytics dashboard, final evaluation, and capstone demonstration.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Curriculum Timeline (Weeks 5 to 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355056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Rule-Based Diagnostic Engine: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Built a deterministic Python rule engine validated to 100% accuracy across all 30 troubleshooting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3012281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NLP/AI Diagnostic Engine: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Implemented Gemini-powered similarity matching, achieving 83.33% Top-1 and 90.00% Top-3 accuracy on unseen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669506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Full-Stack Streamlit Dashboard: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Built an end-to-end Troubleshooting Desk and Analytics Dashboard using Streamlit and pandas.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326731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Human-in-the-Loop Review System: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Designed an Accept / Edit / Reject review workflow that logs every reviewer decision and correction reason.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983956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Responsible AI Analytics: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Built category/severity breakdown charts and a Responsible AI Corrections Log to track AI-human agreement over time.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9343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26568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83793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41018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98243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Key Projects &amp; Demonstrated 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6918"/>
            <a:ext cx="11049000" cy="37195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026443"/>
          <a:ext cx="11029949" cy="3700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Verification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Official Record / Credential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Internship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AI-Assisted Network Troubleshooting Virtual Internship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Issuing Organization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Cisco Networking Academy (delivered via IILM University)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Academic Patronage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IILM University – School of Computer Science &amp; Engineering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Certificate 1 – Intro to Modern 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d08b1949-9730-46c9-b3f5-81e6244cb417 (Issued: Jun 3, 2026)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Certificate 2 – Apply AI: Reviews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c2681fa6-2d20-4047-901d-ba7afc1c9de9 (Issued: Jun 5, 2026)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64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Certificate 3 – Data Analytics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Data Analytics Essentials, verified by QR (Issued: Jun 12, 2026)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694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66083" y="30694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5790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66083" y="35790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088606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66083" y="4088606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6458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66083" y="46458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52030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66083" y="52030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57126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66083" y="57126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51BCE-E21B-9E7A-68CD-573D4568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93" y="1616641"/>
            <a:ext cx="6999463" cy="47416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ertCaption"/>
          <p:cNvSpPr txBox="1"/>
          <p:nvPr/>
        </p:nvSpPr>
        <p:spPr>
          <a:xfrm>
            <a:off x="1258893" y="1195000"/>
            <a:ext cx="6999463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u="none">
                <a:solidFill>
                  <a:srgbClr val="2563EB"/>
                </a:solidFill>
                <a:latin typeface="Poppins"/>
              </a:rPr>
              <a:t>Certificate 1 of 3 – Introduction to Modern AI</a:t>
            </a:r>
          </a:p>
        </p:txBody>
      </p:sp>
    </p:spTree>
    <p:extLst>
      <p:ext uri="{BB962C8B-B14F-4D97-AF65-F5344CB8AC3E}">
        <p14:creationId xmlns:p14="http://schemas.microsoft.com/office/powerpoint/2010/main" val="381558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424237"/>
            <a:ext cx="7086600" cy="177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0751" y="1662112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 dirty="0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248275" y="4119562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8475" y="3719512"/>
            <a:ext cx="1828800" cy="31432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Veer Gupta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8475" y="4367212"/>
            <a:ext cx="1828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Roll No: 25SCS1003003599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800" y="3719512"/>
            <a:ext cx="3514725" cy="3143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School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8800" y="4367212"/>
            <a:ext cx="3514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IILM University, Greater Noida, U.P.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374808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74808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51BCE-E21B-9E7A-68CD-573D4568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93" y="1616661"/>
            <a:ext cx="6999463" cy="47415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ertCaption"/>
          <p:cNvSpPr txBox="1"/>
          <p:nvPr/>
        </p:nvSpPr>
        <p:spPr>
          <a:xfrm>
            <a:off x="1258893" y="1195000"/>
            <a:ext cx="6999463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u="none">
                <a:solidFill>
                  <a:srgbClr val="2563EB"/>
                </a:solidFill>
                <a:latin typeface="Poppins"/>
              </a:rPr>
              <a:t>Certificate 2 of 3 – Apply AI: Analyze Customer Reviews</a:t>
            </a:r>
          </a:p>
        </p:txBody>
      </p:sp>
    </p:spTree>
    <p:extLst>
      <p:ext uri="{BB962C8B-B14F-4D97-AF65-F5344CB8AC3E}">
        <p14:creationId xmlns:p14="http://schemas.microsoft.com/office/powerpoint/2010/main" val="381558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51BCE-E21B-9E7A-68CD-573D4568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24" y="1545000"/>
            <a:ext cx="6633000" cy="5125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ertCaption"/>
          <p:cNvSpPr txBox="1"/>
          <p:nvPr/>
        </p:nvSpPr>
        <p:spPr>
          <a:xfrm>
            <a:off x="1258893" y="1195000"/>
            <a:ext cx="6999463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u="none">
                <a:solidFill>
                  <a:srgbClr val="2563EB"/>
                </a:solidFill>
                <a:latin typeface="Poppins"/>
              </a:rPr>
              <a:t>Certificate 3 of 3 – Data Analytics Essentials</a:t>
            </a:r>
          </a:p>
        </p:txBody>
      </p:sp>
    </p:spTree>
    <p:extLst>
      <p:ext uri="{BB962C8B-B14F-4D97-AF65-F5344CB8AC3E}">
        <p14:creationId xmlns:p14="http://schemas.microsoft.com/office/powerpoint/2010/main" val="381558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Application Walkthrough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51BCE-E21B-9E7A-68CD-573D4568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00" y="1650000"/>
            <a:ext cx="10200000" cy="493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ShotCaption"/>
          <p:cNvSpPr txBox="1"/>
          <p:nvPr/>
        </p:nvSpPr>
        <p:spPr>
          <a:xfrm>
            <a:off x="996000" y="1195000"/>
            <a:ext cx="102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u="none">
                <a:solidFill>
                  <a:srgbClr val="2563EB"/>
                </a:solidFill>
                <a:latin typeface="Poppins"/>
              </a:rPr>
              <a:t>Troubleshooting Desk – Case Selection &amp; Evidence</a:t>
            </a:r>
          </a:p>
        </p:txBody>
      </p:sp>
    </p:spTree>
    <p:extLst>
      <p:ext uri="{BB962C8B-B14F-4D97-AF65-F5344CB8AC3E}">
        <p14:creationId xmlns:p14="http://schemas.microsoft.com/office/powerpoint/2010/main" val="381558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Application Walkthrough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51BCE-E21B-9E7A-68CD-573D4568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00" y="1650000"/>
            <a:ext cx="10200000" cy="493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ShotCaption"/>
          <p:cNvSpPr txBox="1"/>
          <p:nvPr/>
        </p:nvSpPr>
        <p:spPr>
          <a:xfrm>
            <a:off x="996000" y="1195000"/>
            <a:ext cx="102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u="none">
                <a:solidFill>
                  <a:srgbClr val="2563EB"/>
                </a:solidFill>
                <a:latin typeface="Poppins"/>
              </a:rPr>
              <a:t>AI Diagnosis &amp; Human-in-the-Loop Review</a:t>
            </a:r>
          </a:p>
        </p:txBody>
      </p:sp>
    </p:spTree>
    <p:extLst>
      <p:ext uri="{BB962C8B-B14F-4D97-AF65-F5344CB8AC3E}">
        <p14:creationId xmlns:p14="http://schemas.microsoft.com/office/powerpoint/2010/main" val="381558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Application Walkthrough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51BCE-E21B-9E7A-68CD-573D4568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00" y="1650000"/>
            <a:ext cx="10200000" cy="49246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ShotCaption"/>
          <p:cNvSpPr txBox="1"/>
          <p:nvPr/>
        </p:nvSpPr>
        <p:spPr>
          <a:xfrm>
            <a:off x="996000" y="1195000"/>
            <a:ext cx="102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u="none">
                <a:solidFill>
                  <a:srgbClr val="2563EB"/>
                </a:solidFill>
                <a:latin typeface="Poppins"/>
              </a:rPr>
              <a:t>Review Submission: Edit, Correct &amp; Log Decisions</a:t>
            </a:r>
          </a:p>
        </p:txBody>
      </p:sp>
    </p:spTree>
    <p:extLst>
      <p:ext uri="{BB962C8B-B14F-4D97-AF65-F5344CB8AC3E}">
        <p14:creationId xmlns:p14="http://schemas.microsoft.com/office/powerpoint/2010/main" val="381558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Application Walkthrough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51BCE-E21B-9E7A-68CD-573D4568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00" y="1650000"/>
            <a:ext cx="10200000" cy="47062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ShotCaption"/>
          <p:cNvSpPr txBox="1"/>
          <p:nvPr/>
        </p:nvSpPr>
        <p:spPr>
          <a:xfrm>
            <a:off x="996000" y="1195000"/>
            <a:ext cx="102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u="none">
                <a:solidFill>
                  <a:srgbClr val="2563EB"/>
                </a:solidFill>
                <a:latin typeface="Poppins"/>
              </a:rPr>
              <a:t>Responsible AI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381558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Application Walkthrough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51BCE-E21B-9E7A-68CD-573D4568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00" y="1650000"/>
            <a:ext cx="10200000" cy="49246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ShotCaption"/>
          <p:cNvSpPr txBox="1"/>
          <p:nvPr/>
        </p:nvSpPr>
        <p:spPr>
          <a:xfrm>
            <a:off x="996000" y="1195000"/>
            <a:ext cx="102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u="none">
                <a:solidFill>
                  <a:srgbClr val="2563EB"/>
                </a:solidFill>
                <a:latin typeface="Poppins"/>
              </a:rPr>
              <a:t>Review History &amp; Responsible AI Corrections Log</a:t>
            </a:r>
          </a:p>
        </p:txBody>
      </p:sp>
    </p:spTree>
    <p:extLst>
      <p:ext uri="{BB962C8B-B14F-4D97-AF65-F5344CB8AC3E}">
        <p14:creationId xmlns:p14="http://schemas.microsoft.com/office/powerpoint/2010/main" val="381558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Application Walkthrough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51BCE-E21B-9E7A-68CD-573D4568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00" y="1650000"/>
            <a:ext cx="10200000" cy="49246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ShotCaption"/>
          <p:cNvSpPr txBox="1"/>
          <p:nvPr/>
        </p:nvSpPr>
        <p:spPr>
          <a:xfrm>
            <a:off x="996000" y="1195000"/>
            <a:ext cx="102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u="none">
                <a:solidFill>
                  <a:srgbClr val="2563EB"/>
                </a:solidFill>
                <a:latin typeface="Poppins"/>
              </a:rPr>
              <a:t>Decision Breakdown by Category</a:t>
            </a:r>
          </a:p>
        </p:txBody>
      </p:sp>
    </p:spTree>
    <p:extLst>
      <p:ext uri="{BB962C8B-B14F-4D97-AF65-F5344CB8AC3E}">
        <p14:creationId xmlns:p14="http://schemas.microsoft.com/office/powerpoint/2010/main" val="381558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920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Certification &amp; Official Verification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Vijendra Kumar</cp:lastModifiedBy>
  <cp:revision>3</cp:revision>
  <dcterms:created xsi:type="dcterms:W3CDTF">2013-01-27T09:14:16Z</dcterms:created>
  <dcterms:modified xsi:type="dcterms:W3CDTF">2026-08-19T20:01:30Z</dcterms:modified>
  <cp:category/>
</cp:coreProperties>
</file>